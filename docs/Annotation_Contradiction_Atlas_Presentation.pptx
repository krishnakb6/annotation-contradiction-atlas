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morning/afternoon. Today we present The Annotation Contradiction Atlas. This project creates an evidence-aware database and decision-support triage system to detect potentially misannotated human protein kinase functions in public databases.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Biomedical research relies heavily on curated databases like UniProtKB. However, automated inheritance creates a dangerous error propagation loop. A key nuance is that unusual sequences are not always wrong—some are natural pseudokinases.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pipeline has four main stages: UniProt data ingestion, four multi-evidence engines, an evidence-aware scoring engine, and dual-queue triage in Streamlit.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catalytic triad consists of VAIK in subdomain II, HRD in subdomain VIB, and DFG in subdomain VII. Our system verifies both motif sequence identity and their linear spatial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shows the live dashboard view. We imported 500 human kinases and 5,464 annotations. Over 84% have direct experimental evidence, allowing the system to use high-confidence records as reference anchors.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Contradiction Explorer review queue. It prioritizes entries by contradiction score. SPEG is flagged with Moderate priority due to low homology and inverted motif positions, providing a clear triage candidate.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shows our side-by-side reference comparison tool. Looking at SPEG side-by-side with LMTK3 reveals that the catalytic motifs are separated across thousands of amino acids, suggesting multidomain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key conceptual distinction: pseudokinases represent about 10% of human kinases. They are not mistakes—they are natural scaffolds. We isolate them in a separate queue so they don't generate false positives.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 inspects VRK3 and ILK directly. VRK3 has HGA and SSG mutations; ILK has FKK and DFF mutations. Our platform accurately measures their structural divergence while confirming their valid non-catalytic annotations.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 demonstrates our canonical control: EGFR. The radar chart shows zero motif anomaly, an ESM-2 anomaly score of only 0.036, and strong experimental provenance, correctly resulting in Low Review Priority.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 details our evaluation methodology. Benchmark v2 contains 44 cases partitioned into Calibration (N=21) and Independent Test (N=21), guaranteeing zero test leakage.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 presents the exact numbers from our benchmark. Sequence Similarity achieved the highest overall F1-score of 0.6000, while the Motifs method achieved 100% precision with zero false positives.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are the visual charts and confusion matrix. Sequence similarity correctly identified 7 true negatives and 6 true positives, confirming solid discrimination on the frozen test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 offers a major scientific insight: global mean-pooling dilutes localized point mutations across long proteins. That is why simple motif checkers and alignment tools are necessary complements to LLMs.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 covers limitations and future work. We emphasize that our system is an assistant, not an oracle. Future work includes active-site windowed embeddings and AlphaFold 3D pocket geometry.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conclusion, The Annotation Contradiction Atlas provides a transparent, evidence-aware decision support system for biocurators. Thank you, and we welcome any questions!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097280"/>
            <a:ext cx="9784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D4ED8"/>
                </a:solidFill>
              </a:defRPr>
            </a:pPr>
            <a:r>
              <a:t>BIOLOGICAL DATABASES &amp; KNOWLEDGE DISCOVERY • COURSE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508760"/>
            <a:ext cx="9784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200" b="1">
                <a:solidFill>
                  <a:srgbClr val="0F172A"/>
                </a:solidFill>
              </a:defRPr>
            </a:pPr>
            <a:r>
              <a:t>The Annotation Contradiction Atlas</a:t>
            </a:r>
          </a:p>
          <a:p>
            <a:pPr>
              <a:defRPr sz="1550">
                <a:solidFill>
                  <a:srgbClr val="64748B"/>
                </a:solidFill>
              </a:defRPr>
            </a:pPr>
            <a:r>
              <a:t>An Evidence-Aware Database &amp; Decision-Support System for Detecting Potentially Inconsistent Human Protein Kinase Annotations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3154680"/>
            <a:ext cx="97840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3429000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Project Team Members:</a:t>
            </a:r>
          </a:p>
          <a:p>
            <a:pPr>
              <a:spcAft>
                <a:spcPts val="200"/>
              </a:spcAft>
              <a:defRPr sz="1250">
                <a:solidFill>
                  <a:srgbClr val="1E293B"/>
                </a:solidFill>
              </a:defRPr>
            </a:pPr>
            <a:r>
              <a:t>•  A. Sai Charan</a:t>
            </a:r>
          </a:p>
          <a:p>
            <a:pPr>
              <a:spcAft>
                <a:spcPts val="200"/>
              </a:spcAft>
              <a:defRPr sz="1250">
                <a:solidFill>
                  <a:srgbClr val="1E293B"/>
                </a:solidFill>
              </a:defRPr>
            </a:pPr>
            <a:r>
              <a:t>•  Sri Rithvik</a:t>
            </a:r>
          </a:p>
          <a:p>
            <a:pPr>
              <a:spcAft>
                <a:spcPts val="200"/>
              </a:spcAft>
              <a:defRPr sz="1250">
                <a:solidFill>
                  <a:srgbClr val="1E293B"/>
                </a:solidFill>
              </a:defRPr>
            </a:pPr>
            <a:r>
              <a:t>•  Krishna Kiriti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Department of Computer Science and Engineering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3429000"/>
            <a:ext cx="4114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200" b="1">
                <a:solidFill>
                  <a:srgbClr val="0F172A"/>
                </a:solidFill>
              </a:defRPr>
            </a:pPr>
            <a:r>
              <a:t>Core System Overview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0F172A"/>
                </a:solidFill>
              </a:rPr>
              <a:t>✔ Dataset Scale: </a:t>
            </a:r>
            <a:r>
              <a:rPr sz="1000">
                <a:solidFill>
                  <a:srgbClr val="1E293B"/>
                </a:solidFill>
              </a:rPr>
              <a:t>500 human kinases &amp; 5,464 UniProt annotations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0F172A"/>
                </a:solidFill>
              </a:rPr>
              <a:t>✔ Multi-Evidence: </a:t>
            </a:r>
            <a:r>
              <a:rPr sz="1000">
                <a:solidFill>
                  <a:srgbClr val="1E293B"/>
                </a:solidFill>
              </a:rPr>
              <a:t>ESM-2 language model + Motifs + Alignment + ECO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0F172A"/>
                </a:solidFill>
              </a:rPr>
              <a:t>✔ Triage Logic: </a:t>
            </a:r>
            <a:r>
              <a:rPr sz="1000">
                <a:solidFill>
                  <a:srgbClr val="1E293B"/>
                </a:solidFill>
              </a:rPr>
              <a:t>Explicit segregation of biological exceptions (pseudokinases)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0F172A"/>
                </a:solidFill>
              </a:rPr>
              <a:t>✔ Interactive Web UI: </a:t>
            </a:r>
            <a:r>
              <a:rPr sz="1000">
                <a:solidFill>
                  <a:srgbClr val="1E293B"/>
                </a:solidFill>
              </a:rPr>
              <a:t>Streamlit platform with reproducible benchmark suite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7432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>
              <a:defRPr sz="950" b="1">
                <a:solidFill>
                  <a:srgbClr val="1D4ED8"/>
                </a:solidFill>
                <a:latin typeface="Calibri"/>
              </a:defRPr>
            </a:pPr>
            <a:r>
              <a:t>SCIENTIFIC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The Annotation Inconsistency Challenge in Protein Databases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Why automated functional transfer causes transitive error propagation across repositories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106984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The Annotation Contradiction Atlas • Human Kinome Biocuration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Calibri"/>
              </a:defRPr>
            </a:pPr>
            <a:r>
              <a:t>Slide 2 of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438912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74520"/>
            <a:ext cx="3986784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The Biocuration Challenge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Exponential Sequence Growth: </a:t>
            </a:r>
            <a:r>
              <a:rPr b="0">
                <a:solidFill>
                  <a:srgbClr val="1E293B"/>
                </a:solidFill>
              </a:rPr>
              <a:t>Next-generation sequencing produces protein sequences far faster than manual biochemical experiments can characterize them.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Automated Inheritance Hazard: </a:t>
            </a:r>
            <a:r>
              <a:rPr b="0">
                <a:solidFill>
                  <a:srgbClr val="1E293B"/>
                </a:solidFill>
              </a:rPr>
              <a:t>Curated repositories (UniProtKB) rely heavily on automated homology transfer; erroneous or ambiguous functional labels are systematically propagated to newly sequenced homologs.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Subtle Biological Context: </a:t>
            </a:r>
            <a:r>
              <a:rPr b="0">
                <a:solidFill>
                  <a:srgbClr val="1E293B"/>
                </a:solidFill>
              </a:rPr>
              <a:t>A divergent sequence or missing catalytic motif is not necessarily an error; it may be an allosteric regulator, an atypical kinase, or a natural pseudokinase.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Core Research Question: </a:t>
            </a:r>
            <a:r>
              <a:rPr b="0">
                <a:solidFill>
                  <a:srgbClr val="1E293B"/>
                </a:solidFill>
              </a:rPr>
              <a:t>Can integrating protein language models, sequence similarity, catalytic motif checks, and annotation provenance prioritize inconsistencies more explainably than individual methods?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Project Objective: </a:t>
            </a:r>
            <a:r>
              <a:rPr b="0">
                <a:solidFill>
                  <a:srgbClr val="1E293B"/>
                </a:solidFill>
              </a:rPr>
              <a:t>Build a transparent decision-support triage assistant—not an automated oracle—for expert biocurators.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1691640"/>
            <a:ext cx="61264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WhatsApp Image 2026-10-28 at 21.25.0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2" y="2189542"/>
            <a:ext cx="5980176" cy="332016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03520" y="5952744"/>
            <a:ext cx="6126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i="1">
                <a:solidFill>
                  <a:srgbClr val="64748B"/>
                </a:solidFill>
                <a:latin typeface="Calibri"/>
              </a:defRPr>
            </a:pPr>
            <a:r>
              <a:t>Figure 1: Scientific motivation, research question, and conserved kinase architecture documentation.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7432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>
              <a:defRPr sz="950" b="1">
                <a:solidFill>
                  <a:srgbClr val="1D4ED8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End-to-End System Architecture &amp;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Four independent computational evidence layers feed into an evidence-aware triage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106984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The Annotation Contradiction Atlas • Human Kinome Biocuration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Calibri"/>
              </a:defRPr>
            </a:pPr>
            <a:r>
              <a:t>Slide 3 of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41148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74520"/>
            <a:ext cx="3712464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Architectural Pipeline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1. UniProtKB Data Ingestion: </a:t>
            </a:r>
            <a:r>
              <a:rPr b="0">
                <a:solidFill>
                  <a:srgbClr val="1E293B"/>
                </a:solidFill>
              </a:rPr>
              <a:t>Ingests 500 human protein kinases, 5,464 functional annotations, and Evidence &amp; Conclusion Ontology (ECO) codes.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2. Multi-Evidence Analysis: </a:t>
            </a:r>
            <a:r>
              <a:rPr b="0">
                <a:solidFill>
                  <a:srgbClr val="1E293B"/>
                </a:solidFill>
              </a:rPr>
              <a:t>Combines four distinct analytical perspectives:</a:t>
            </a:r>
          </a:p>
          <a:p>
            <a:pPr lvl="1">
              <a:spcAft>
                <a:spcPts val="6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– ESM-2 Language Model: </a:t>
            </a:r>
            <a:r>
              <a:rPr b="0">
                <a:solidFill>
                  <a:srgbClr val="1E293B"/>
                </a:solidFill>
              </a:rPr>
              <a:t>Dense 320-d embeddings from esm2_t6_8M_UR50D for manifold anomaly scoring.</a:t>
            </a:r>
          </a:p>
          <a:p>
            <a:pPr lvl="1">
              <a:spcAft>
                <a:spcPts val="6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– Sequence Similarity: </a:t>
            </a:r>
            <a:r>
              <a:rPr b="0">
                <a:solidFill>
                  <a:srgbClr val="1E293B"/>
                </a:solidFill>
              </a:rPr>
              <a:t>Needleman-Wunsch &amp; k-mer Jaccard overlap to find nearest characterized reference.</a:t>
            </a:r>
          </a:p>
          <a:p>
            <a:pPr lvl="1">
              <a:spcAft>
                <a:spcPts val="6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– Catalytic Motif Scanner: </a:t>
            </a:r>
            <a:r>
              <a:rPr b="0">
                <a:solidFill>
                  <a:srgbClr val="1E293B"/>
                </a:solidFill>
              </a:rPr>
              <a:t>Checks canonical VAIK, HRD, and DFG subdomains with strict linear order.</a:t>
            </a:r>
          </a:p>
          <a:p>
            <a:pPr lvl="1">
              <a:spcAft>
                <a:spcPts val="6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– Annotation Provenance: </a:t>
            </a:r>
            <a:r>
              <a:rPr b="0">
                <a:solidFill>
                  <a:srgbClr val="1E293B"/>
                </a:solidFill>
              </a:rPr>
              <a:t>Categorizes ECO codes into Experimental, Phylogenetic, Computational, and Author tiers.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3. Evidence Scoring Engine: </a:t>
            </a:r>
            <a:r>
              <a:rPr b="0">
                <a:solidFill>
                  <a:srgbClr val="1E293B"/>
                </a:solidFill>
              </a:rPr>
              <a:t>Computes a weighted contradiction index (0.0 to 1.0) with calibrated thresholds.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4. Streamlit Decision Atlas: </a:t>
            </a:r>
            <a:r>
              <a:rPr b="0">
                <a:solidFill>
                  <a:srgbClr val="1E293B"/>
                </a:solidFill>
              </a:rPr>
              <a:t>Routes entries into dual triage queues: suspected conflicts vs biological exceptions.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691640"/>
            <a:ext cx="64008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352" y="2246580"/>
            <a:ext cx="6254496" cy="320608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0" y="5952744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i="1">
                <a:solidFill>
                  <a:srgbClr val="64748B"/>
                </a:solidFill>
                <a:latin typeface="Calibri"/>
              </a:defRPr>
            </a:pPr>
            <a:r>
              <a:t>Figure 2: End-to-end pipeline from UniProt ingestion through four evidence engines to Streamlit decision queues.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7432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>
              <a:defRPr sz="950" b="1">
                <a:solidFill>
                  <a:srgbClr val="1D4ED8"/>
                </a:solidFill>
                <a:latin typeface="Calibri"/>
              </a:defRPr>
            </a:pPr>
            <a:r>
              <a:t>BIOLOGICAL DOMAIN KNOWLEDGE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Conserved Protein Kinase Catalytic Triad &amp; Motif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Essential biochemical landmarks required for canonical phosphotransfer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106984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The Annotation Contradiction Atlas • Human Kinome Biocuration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Calibri"/>
              </a:defRPr>
            </a:pPr>
            <a:r>
              <a:t>Slide 4 of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438912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74520"/>
            <a:ext cx="3986784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The Catalytic Triad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Subdomain II — VAIK Motif: </a:t>
            </a:r>
            <a:r>
              <a:rPr b="0">
                <a:solidFill>
                  <a:srgbClr val="1E293B"/>
                </a:solidFill>
              </a:rPr>
              <a:t>Consensus: [LIVMAFY][AVILMF][IVATC][K]. Invariant Lysine (K) forms critical salt bridges with alpha- and beta-phosphates of ATP to orient the triphosphate chain for attack.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Subdomain VIB — HRD Motif: </a:t>
            </a:r>
            <a:r>
              <a:rPr b="0">
                <a:solidFill>
                  <a:srgbClr val="1E293B"/>
                </a:solidFill>
              </a:rPr>
              <a:t>Consensus: [HYF][RKN][D]. Invariant Aspartate (D) acts as the catalytic base accepting a proton from the substrate hydroxyl group (Ser/Thr/Tyr).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Subdomain VII — DFG Motif: </a:t>
            </a:r>
            <a:r>
              <a:rPr b="0">
                <a:solidFill>
                  <a:srgbClr val="1E293B"/>
                </a:solidFill>
              </a:rPr>
              <a:t>Consensus: [D][FYSW][GSA]. Invariant Aspartate (D) coordinates divalent magnesium (Mg²⁺), stabilizing the ATP phosphate chain during transfer.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Strict Spatial Ordering: </a:t>
            </a:r>
            <a:r>
              <a:rPr b="0">
                <a:solidFill>
                  <a:srgbClr val="1E293B"/>
                </a:solidFill>
              </a:rPr>
              <a:t>Motifs must appear in strict linear order: VAIK -&gt; HRD -&gt; DFG. Disruptions or reversed spacing signal domain rearrangements or non-standard architectures.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1691640"/>
            <a:ext cx="61264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WhatsApp Image 2026-10-28 at 22.12.0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2" y="2862661"/>
            <a:ext cx="5980176" cy="19739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03520" y="5952744"/>
            <a:ext cx="6126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i="1">
                <a:solidFill>
                  <a:srgbClr val="64748B"/>
                </a:solidFill>
                <a:latin typeface="Calibri"/>
              </a:defRPr>
            </a:pPr>
            <a:r>
              <a:t>Figure 3: Conserved catalytic motifs table and primary sequence highlighter showing VAIK, HKD, and DFG landmarks.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7432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>
              <a:defRPr sz="950" b="1">
                <a:solidFill>
                  <a:srgbClr val="1D4ED8"/>
                </a:solidFill>
                <a:latin typeface="Calibri"/>
              </a:defRPr>
            </a:pPr>
            <a:r>
              <a:t>DATABASE COMPOSITION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Atlas Overview: 500 Human Kinases &amp; Evidence Tiers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Ingestion scale, baseline review distribution, and evidence provenance breakdown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106984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The Annotation Contradiction Atlas • Human Kinome Biocuration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Calibri"/>
              </a:defRPr>
            </a:pPr>
            <a:r>
              <a:t>Slide 5 of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438912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74520"/>
            <a:ext cx="3986784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Database Summary Metrics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Curated Ingestion Scale: </a:t>
            </a:r>
            <a:r>
              <a:rPr b="0">
                <a:solidFill>
                  <a:srgbClr val="1E293B"/>
                </a:solidFill>
              </a:rPr>
              <a:t>500 human protein kinases imported from UniProtKB/Swiss-Prot (Taxonomy ID: 9606) with 5,464 individual functional annotation statements.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Experimental Provenance (84.8%): </a:t>
            </a:r>
            <a:r>
              <a:rPr b="0">
                <a:solidFill>
                  <a:srgbClr val="1E293B"/>
                </a:solidFill>
              </a:rPr>
              <a:t>4,634 annotations supported by direct in vitro biochemical assays (ECO:0000269).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Phylogenetic Curated (7.3%): </a:t>
            </a:r>
            <a:r>
              <a:rPr b="0">
                <a:solidFill>
                  <a:srgbClr val="1E293B"/>
                </a:solidFill>
              </a:rPr>
              <a:t>401 annotations transferred through expert phylogenetic curation (ECO:0000250).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Unspecified &amp; Author Statements: </a:t>
            </a:r>
            <a:r>
              <a:rPr b="0">
                <a:solidFill>
                  <a:srgbClr val="1E293B"/>
                </a:solidFill>
              </a:rPr>
              <a:t>336 baseline records (6.1%) and 93 author statements (1.7%, ECO:0000305).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Baseline Review Distribution: </a:t>
            </a:r>
            <a:r>
              <a:rPr b="0">
                <a:solidFill>
                  <a:srgbClr val="1E293B"/>
                </a:solidFill>
              </a:rPr>
              <a:t>97.3% evaluated as congruent / low review priority; 2.7% flagged for moderate review.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Reproducible Checkpointing: </a:t>
            </a:r>
            <a:r>
              <a:rPr b="0">
                <a:solidFill>
                  <a:srgbClr val="1E293B"/>
                </a:solidFill>
              </a:rPr>
              <a:t>Run ID RUN_20261023_232805_4412ea completed under random seed 42.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1691640"/>
            <a:ext cx="61264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WhatsApp Image 2026-10-28 at 21.24.5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2" y="2412512"/>
            <a:ext cx="5980176" cy="287422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03520" y="5952744"/>
            <a:ext cx="6126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i="1">
                <a:solidFill>
                  <a:srgbClr val="64748B"/>
                </a:solidFill>
                <a:latin typeface="Calibri"/>
              </a:defRPr>
            </a:pPr>
            <a:r>
              <a:t>Figure 4: Atlas Overview Dashboard showing database metrics, review priority donut chart, and evidence tier histogram.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7432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>
              <a:defRPr sz="950" b="1">
                <a:solidFill>
                  <a:srgbClr val="1D4ED8"/>
                </a:solidFill>
                <a:latin typeface="Calibri"/>
              </a:defRPr>
            </a:pPr>
            <a:r>
              <a:t>BIOCURATION TRIAGE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Prioritized Review Queue for Potential Inconsistencies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Ordinary review queue for candidates exhibiting multi-evidence computational discordance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106984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The Annotation Contradiction Atlas • Human Kinome Biocuration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Calibri"/>
              </a:defRPr>
            </a:pPr>
            <a:r>
              <a:t>Slide 6 of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42976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74520"/>
            <a:ext cx="3895344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Triage Workspace Highlights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Focused Biocurator Queue: </a:t>
            </a:r>
            <a:r>
              <a:rPr b="0">
                <a:solidFill>
                  <a:srgbClr val="1E293B"/>
                </a:solidFill>
              </a:rPr>
              <a:t>Isolates proteins exhibiting conflicting computational signals across sequence similarity, catalytic motifs, or ESM-2 embeddings.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Exclusion of Biological Exceptions: </a:t>
            </a:r>
            <a:r>
              <a:rPr b="0">
                <a:solidFill>
                  <a:srgbClr val="1E293B"/>
                </a:solidFill>
              </a:rPr>
              <a:t>Natural pseudokinases are excluded by default to ensure the queue focuses strictly on suspected annotation errors.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Interactive Filtering Controls: </a:t>
            </a:r>
            <a:r>
              <a:rPr b="0">
                <a:solidFill>
                  <a:srgbClr val="1E293B"/>
                </a:solidFill>
              </a:rPr>
              <a:t>Allows curators to filter candidates by review priority tier (High, Moderate), primary discordant signal, or evidence tier.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Live Candidate: SPEG (Q15772): </a:t>
            </a:r>
            <a:r>
              <a:rPr b="0">
                <a:solidFill>
                  <a:srgbClr val="1E293B"/>
                </a:solidFill>
              </a:rPr>
              <a:t>Striated muscle preferentially expressed kinase flagged with Moderate review priority (Score: 0.407).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Primary Discordant Signal: </a:t>
            </a:r>
            <a:r>
              <a:rPr b="0">
                <a:solidFill>
                  <a:srgbClr val="1E293B"/>
                </a:solidFill>
              </a:rPr>
              <a:t>Low reference sequence homology (5.2% identity) and motif ordering deviations warranting manual inspection.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80" y="1691640"/>
            <a:ext cx="62179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WhatsApp Image 2026-10-28 at 21.24.9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2" y="2548271"/>
            <a:ext cx="6071616" cy="26027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212080" y="5952744"/>
            <a:ext cx="6217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i="1">
                <a:solidFill>
                  <a:srgbClr val="64748B"/>
                </a:solidFill>
                <a:latin typeface="Calibri"/>
              </a:defRPr>
            </a:pPr>
            <a:r>
              <a:t>Figure 5: Contradiction Explorer queue isolating suspected annotation conflicts with explicit filtering options.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7432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>
              <a:defRPr sz="950" b="1">
                <a:solidFill>
                  <a:srgbClr val="1D4ED8"/>
                </a:solidFill>
                <a:latin typeface="Calibri"/>
              </a:defRPr>
            </a:pPr>
            <a:r>
              <a:t>COMPARATIVE INSPECTION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Inspect Candidates Against Characterized Reference Kinases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Side-by-side alignment of motif boundaries, sequence identity, and functional annotations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106984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The Annotation Contradiction Atlas • Human Kinome Biocuration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Calibri"/>
              </a:defRPr>
            </a:pPr>
            <a:r>
              <a:t>Slide 7 of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42976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74520"/>
            <a:ext cx="3895344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Explainable Biocuration Support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Transparent Comparative Triage: </a:t>
            </a:r>
            <a:r>
              <a:rPr b="0">
                <a:solidFill>
                  <a:srgbClr val="1E293B"/>
                </a:solidFill>
              </a:rPr>
              <a:t>Instead of presenting an opaque numerical score, the system pairs candidates directly with their closest characterized reference kinase.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Candidate Profile (SPEG / Q15772): </a:t>
            </a:r>
            <a:r>
              <a:rPr b="0">
                <a:solidFill>
                  <a:srgbClr val="1E293B"/>
                </a:solidFill>
              </a:rPr>
              <a:t>Motifs detected at HRD (position 77), DFG (position 1035), and VAIK (position 1627).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Reference Profile (LMTK3 / Q96Q04): </a:t>
            </a:r>
            <a:r>
              <a:rPr b="0">
                <a:solidFill>
                  <a:srgbClr val="1E293B"/>
                </a:solidFill>
              </a:rPr>
              <a:t>Canonical linear motif spacing: VAIK at 161, HRD at 178, DFG at 284.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Sequence Identity: </a:t>
            </a:r>
            <a:r>
              <a:rPr b="0">
                <a:solidFill>
                  <a:srgbClr val="1E293B"/>
                </a:solidFill>
              </a:rPr>
              <a:t>5.2% global alignment identity against nearest characterized kinase.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Actionable Curator Insight: </a:t>
            </a:r>
            <a:r>
              <a:rPr b="0">
                <a:solidFill>
                  <a:srgbClr val="1E293B"/>
                </a:solidFill>
              </a:rPr>
              <a:t>The inverted motif spacing explains the high anomaly score without assuming an outright clerical error, pointing curators to multi-domain architecture.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80" y="1691640"/>
            <a:ext cx="62179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WhatsApp Image 2026-10-28 at 21.24.5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2" y="2203801"/>
            <a:ext cx="6071616" cy="329164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212080" y="5952744"/>
            <a:ext cx="6217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i="1">
                <a:solidFill>
                  <a:srgbClr val="64748B"/>
                </a:solidFill>
                <a:latin typeface="Calibri"/>
              </a:defRPr>
            </a:pPr>
            <a:r>
              <a:t>Figure 6: Side-by-side reference comparison comparing candidate kinase SPEG against closest reference LMTK3.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7432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>
              <a:defRPr sz="950" b="1">
                <a:solidFill>
                  <a:srgbClr val="1D4ED8"/>
                </a:solidFill>
                <a:latin typeface="Calibri"/>
              </a:defRPr>
            </a:pPr>
            <a:r>
              <a:t>SCIENTIFIC DISTINCTION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Pseudokinases Are Biological Exceptions, Not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Rigorous segregation between natural evolutionary divergence and clerical database mistakes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106984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The Annotation Contradiction Atlas • Human Kinome Biocuration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Calibri"/>
              </a:defRPr>
            </a:pPr>
            <a:r>
              <a:t>Slide 8 of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74520"/>
            <a:ext cx="4809744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The Pseudokinase Challenge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Prevalence in Human Kinome: </a:t>
            </a:r>
            <a:r>
              <a:rPr b="0">
                <a:solidFill>
                  <a:srgbClr val="1E293B"/>
                </a:solidFill>
              </a:rPr>
              <a:t>Approximately 10% of all human protein kinases are pseudokinases—proteins structurally homologous to kinases that have lost catalytic phosphotransfer activity.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Legitimate Biological Functions: </a:t>
            </a:r>
            <a:r>
              <a:rPr b="0">
                <a:solidFill>
                  <a:srgbClr val="1E293B"/>
                </a:solidFill>
              </a:rPr>
              <a:t>Pseudokinases act as vital allosteric regulators, scaffold complexes, and signaling switches (e.g. VRK3, ILK, STRAD-alpha).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Evolutionary Adaptation: </a:t>
            </a:r>
            <a:r>
              <a:rPr b="0">
                <a:solidFill>
                  <a:srgbClr val="1E293B"/>
                </a:solidFill>
              </a:rPr>
              <a:t>Missing catalytic motifs reflect millions of years of evolutionary adaptation, not clerical or functional database errors.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Triage False-Alarm Hazard: </a:t>
            </a:r>
            <a:r>
              <a:rPr b="0">
                <a:solidFill>
                  <a:srgbClr val="1E293B"/>
                </a:solidFill>
              </a:rPr>
              <a:t>If a system treats missing motifs as proof of misannotation, pseudokinases will flood the review queue with false alarms.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Architectural Safeguard: </a:t>
            </a:r>
            <a:r>
              <a:rPr b="0">
                <a:solidFill>
                  <a:srgbClr val="1E293B"/>
                </a:solidFill>
              </a:rPr>
              <a:t>The Atlas routes pseudokinases to an independent Biological Exceptions tab with diagnostic divergence scores and explicit caveats.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212080" cy="4572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874520"/>
            <a:ext cx="4809744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Operational Queue Distinction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Queue A: Suspected Conflicts: </a:t>
            </a:r>
            <a:r>
              <a:rPr b="0">
                <a:solidFill>
                  <a:srgbClr val="1E293B"/>
                </a:solidFill>
              </a:rPr>
              <a:t>Focus: Potential clerical errors, unverified automated transfers, and misassigned catalytic activities.</a:t>
            </a:r>
          </a:p>
          <a:p>
            <a:pPr lvl="1">
              <a:spcAft>
                <a:spcPts val="6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– Triage Goal: </a:t>
            </a:r>
            <a:r>
              <a:rPr b="0">
                <a:solidFill>
                  <a:srgbClr val="1E293B"/>
                </a:solidFill>
              </a:rPr>
              <a:t>Prioritize entries for biocurator re-annotation or manual verification.</a:t>
            </a:r>
          </a:p>
          <a:p>
            <a:pPr lvl="1">
              <a:spcAft>
                <a:spcPts val="6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– Primary Metric: </a:t>
            </a:r>
            <a:r>
              <a:rPr b="0">
                <a:solidFill>
                  <a:srgbClr val="1E293B"/>
                </a:solidFill>
              </a:rPr>
              <a:t>Review Priority (High, Moderate, Low).</a:t>
            </a:r>
          </a:p>
          <a:p>
            <a:pPr lvl="1">
              <a:spcAft>
                <a:spcPts val="6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– Action: </a:t>
            </a:r>
            <a:r>
              <a:rPr b="0">
                <a:solidFill>
                  <a:srgbClr val="1E293B"/>
                </a:solidFill>
              </a:rPr>
              <a:t>Submit review flag to UniProt biocuration team.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Queue B: Biological Exceptions: </a:t>
            </a:r>
            <a:r>
              <a:rPr b="0">
                <a:solidFill>
                  <a:srgbClr val="1E293B"/>
                </a:solidFill>
              </a:rPr>
              <a:t>Focus: Characterize legitimate non-catalytic variants and pseudokinases.</a:t>
            </a:r>
          </a:p>
          <a:p>
            <a:pPr lvl="1">
              <a:spcAft>
                <a:spcPts val="6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– Triage Goal: </a:t>
            </a:r>
            <a:r>
              <a:rPr b="0">
                <a:solidFill>
                  <a:srgbClr val="1E293B"/>
                </a:solidFill>
              </a:rPr>
              <a:t>Quantify degree of structural divergence from canonical active kinases.</a:t>
            </a:r>
          </a:p>
          <a:p>
            <a:pPr lvl="1">
              <a:spcAft>
                <a:spcPts val="6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– Primary Metric: </a:t>
            </a:r>
            <a:r>
              <a:rPr b="0">
                <a:solidFill>
                  <a:srgbClr val="1E293B"/>
                </a:solidFill>
              </a:rPr>
              <a:t>Diagnostic Contradiction Score (divergence index).</a:t>
            </a:r>
          </a:p>
          <a:p>
            <a:pPr lvl="1">
              <a:spcAft>
                <a:spcPts val="6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– Action: </a:t>
            </a:r>
            <a:r>
              <a:rPr b="0">
                <a:solidFill>
                  <a:srgbClr val="1E293B"/>
                </a:solidFill>
              </a:rPr>
              <a:t>Document scaffolding role and atypical subdomain signatures.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7432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>
              <a:defRPr sz="950" b="1">
                <a:solidFill>
                  <a:srgbClr val="1D4ED8"/>
                </a:solidFill>
                <a:latin typeface="Calibri"/>
              </a:defRPr>
            </a:pPr>
            <a:r>
              <a:t>EMPIRICAL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Deep Dive Case Study: Human Pseudokinases VRK3 &amp; ILK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Validating system response on naturally occurring, experimentally characterized pseudokinases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106984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The Annotation Contradiction Atlas • Human Kinome Biocuration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Calibri"/>
              </a:defRPr>
            </a:pPr>
            <a:r>
              <a:t>Slide 9 of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438912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74520"/>
            <a:ext cx="3986784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Empirical Case Study Findings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VRK3 (Q9Y616) — Inactive Ser/Thr Kinase: </a:t>
            </a:r>
            <a:r>
              <a:rPr b="0">
                <a:solidFill>
                  <a:srgbClr val="1E293B"/>
                </a:solidFill>
              </a:rPr>
              <a:t>Assigned annotation: Inactive serine/threonine-protein kinase VRK3.</a:t>
            </a:r>
          </a:p>
          <a:p>
            <a:pPr lvl="1">
              <a:spcAft>
                <a:spcPts val="6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– VRK3 Atypical Motifs: </a:t>
            </a:r>
            <a:r>
              <a:rPr b="0">
                <a:solidFill>
                  <a:srgbClr val="1E293B"/>
                </a:solidFill>
              </a:rPr>
              <a:t>Catalytic loop mutated from HRD to HGA; activation segment altered from DFG to SSG.</a:t>
            </a:r>
          </a:p>
          <a:p>
            <a:pPr lvl="1">
              <a:spcAft>
                <a:spcPts val="6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– Diagnostic Score: </a:t>
            </a:r>
            <a:r>
              <a:rPr b="0">
                <a:solidFill>
                  <a:srgbClr val="1E293B"/>
                </a:solidFill>
              </a:rPr>
              <a:t>0.4537 (Moderate structural divergence).</a:t>
            </a:r>
          </a:p>
          <a:p>
            <a:pPr lvl="1">
              <a:spcAft>
                <a:spcPts val="6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– Biological Function: </a:t>
            </a:r>
            <a:r>
              <a:rPr b="0">
                <a:solidFill>
                  <a:srgbClr val="1E293B"/>
                </a:solidFill>
              </a:rPr>
              <a:t>Nuclear scaffold that activates VHR phosphatase and suppresses ERK signaling.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ILK (Q13418) — Integrin-Linked Kinase: </a:t>
            </a:r>
            <a:r>
              <a:rPr b="0">
                <a:solidFill>
                  <a:srgbClr val="1E293B"/>
                </a:solidFill>
              </a:rPr>
              <a:t>Assigned annotation: Integrin-linked protein kinase (pseudokinase).</a:t>
            </a:r>
          </a:p>
          <a:p>
            <a:pPr lvl="1">
              <a:spcAft>
                <a:spcPts val="6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– ILK Atypical Motifs: </a:t>
            </a:r>
            <a:r>
              <a:rPr b="0">
                <a:solidFill>
                  <a:srgbClr val="1E293B"/>
                </a:solidFill>
              </a:rPr>
              <a:t>Catalytic loop mutated to FKK; activation segment altered to DFF.</a:t>
            </a:r>
          </a:p>
          <a:p>
            <a:pPr lvl="1">
              <a:spcAft>
                <a:spcPts val="6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– Diagnostic Score: </a:t>
            </a:r>
            <a:r>
              <a:rPr b="0">
                <a:solidFill>
                  <a:srgbClr val="1E293B"/>
                </a:solidFill>
              </a:rPr>
              <a:t>0.7167 (High structural divergence).</a:t>
            </a:r>
          </a:p>
          <a:p>
            <a:pPr lvl="1">
              <a:spcAft>
                <a:spcPts val="6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– Biological Function: </a:t>
            </a:r>
            <a:r>
              <a:rPr b="0">
                <a:solidFill>
                  <a:srgbClr val="1E293B"/>
                </a:solidFill>
              </a:rPr>
              <a:t>Core focal adhesion scaffold connecting integrins to the actin cytoskeleton.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System Verification: </a:t>
            </a:r>
            <a:r>
              <a:rPr b="0">
                <a:solidFill>
                  <a:srgbClr val="1E293B"/>
                </a:solidFill>
              </a:rPr>
              <a:t>Both correctly flagged for structural divergence without being mislabeled as database errors.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1691640"/>
            <a:ext cx="61264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WhatsApp Image 2026-10-28 at 21.24.5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2" y="2051939"/>
            <a:ext cx="5980176" cy="35953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03520" y="5952744"/>
            <a:ext cx="6126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i="1">
                <a:solidFill>
                  <a:srgbClr val="64748B"/>
                </a:solidFill>
                <a:latin typeface="Calibri"/>
              </a:defRPr>
            </a:pPr>
            <a:r>
              <a:t>Figure 7: Biological Exceptions detail view showing characterization priority, motif summaries, and explicit scientific caveats for VRK3 and ILK.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7432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>
              <a:defRPr sz="950" b="1">
                <a:solidFill>
                  <a:srgbClr val="1D4ED8"/>
                </a:solidFill>
                <a:latin typeface="Calibri"/>
              </a:defRPr>
            </a:pPr>
            <a:r>
              <a:t>CANONICAL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Canonical Reference Inspection: EGFR (P00533)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Validating multi-evidence congruence on a fully characterized receptor tyrosine kinase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106984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The Annotation Contradiction Atlas • Human Kinome Biocuration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Calibri"/>
              </a:defRPr>
            </a:pPr>
            <a:r>
              <a:t>Slide 10 of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42976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74520"/>
            <a:ext cx="3895344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Multi-Evidence Synthesis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Gold-Standard Active Control: </a:t>
            </a:r>
            <a:r>
              <a:rPr b="0">
                <a:solidFill>
                  <a:srgbClr val="1E293B"/>
                </a:solidFill>
              </a:rPr>
              <a:t>Epidermal Growth Factor Receptor (1,210 aa) serves as a canonical active receptor tyrosine kinase control.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Catalytic Motif Integrity: </a:t>
            </a:r>
            <a:r>
              <a:rPr b="0">
                <a:solidFill>
                  <a:srgbClr val="1E293B"/>
                </a:solidFill>
              </a:rPr>
              <a:t>Anomaly score = 0.000. All 3 canonical subdomains fully intact (VAIK pos 742, HKD pos 805, DFG pos 855).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ESM-2 Manifold Position: </a:t>
            </a:r>
            <a:r>
              <a:rPr b="0">
                <a:solidFill>
                  <a:srgbClr val="1E293B"/>
                </a:solidFill>
              </a:rPr>
              <a:t>Anomaly score = 0.036. Firmly centered on the active kinase embedding manifold.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Evidence Provenance: </a:t>
            </a:r>
            <a:r>
              <a:rPr b="0">
                <a:solidFill>
                  <a:srgbClr val="1E293B"/>
                </a:solidFill>
              </a:rPr>
              <a:t>Experimental tier backed by 38 distinct Swiss-Prot records with direct PubMed literature citations.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System Decision: </a:t>
            </a:r>
            <a:r>
              <a:rPr b="0">
                <a:solidFill>
                  <a:srgbClr val="1E293B"/>
                </a:solidFill>
              </a:rPr>
              <a:t>Classified as Congruent / Low Review Priority (Composite score: 0.26). Confirms zero false alarms on standard active kinases.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80" y="1691640"/>
            <a:ext cx="62179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WhatsApp Image 2026-10-28 at 22.12.0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2" y="2267003"/>
            <a:ext cx="6071616" cy="316524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212080" y="5952744"/>
            <a:ext cx="6217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i="1">
                <a:solidFill>
                  <a:srgbClr val="64748B"/>
                </a:solidFill>
                <a:latin typeface="Calibri"/>
              </a:defRPr>
            </a:pPr>
            <a:r>
              <a:t>Figure 8: Protein record for EGFR (P00533) showing radar component anomaly breakdown and analytical evidence synthesis.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7432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>
              <a:defRPr sz="950" b="1">
                <a:solidFill>
                  <a:srgbClr val="1D4ED8"/>
                </a:solidFill>
                <a:latin typeface="Calibri"/>
              </a:defRPr>
            </a:pPr>
            <a:r>
              <a:t>BENCHMARK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Scientific Benchmark v2: Experimental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Controlled synthetic perturbations, natural exceptions, and a strict zero-leakage split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106984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The Annotation Contradiction Atlas • Human Kinome Biocuration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Calibri"/>
              </a:defRPr>
            </a:pPr>
            <a:r>
              <a:t>Slide 11 of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74520"/>
            <a:ext cx="4809744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Benchmark Design &amp; Partitioning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Strict Zero-Leakage Protocol: </a:t>
            </a:r>
            <a:r>
              <a:rPr b="0">
                <a:solidFill>
                  <a:srgbClr val="1E293B"/>
                </a:solidFill>
              </a:rPr>
              <a:t>Benchmark cases are divided into two equal partitions to guarantee unbiased evaluation:</a:t>
            </a:r>
          </a:p>
          <a:p>
            <a:pPr lvl="1">
              <a:spcAft>
                <a:spcPts val="6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– Calibration Partition (N=21): </a:t>
            </a:r>
            <a:r>
              <a:rPr b="0">
                <a:solidFill>
                  <a:srgbClr val="1E293B"/>
                </a:solidFill>
              </a:rPr>
              <a:t>Used strictly to optimize and freeze decision thresholds (tau = 0.1814 for ESM-2).</a:t>
            </a:r>
          </a:p>
          <a:p>
            <a:pPr lvl="1">
              <a:spcAft>
                <a:spcPts val="6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– Independent Test Partition (N=21): </a:t>
            </a:r>
            <a:r>
              <a:rPr b="0">
                <a:solidFill>
                  <a:srgbClr val="1E293B"/>
                </a:solidFill>
              </a:rPr>
              <a:t>Evaluated with completely frozen parameters to prevent data leakage.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Documented Categories (N=44): </a:t>
            </a:r>
            <a:r>
              <a:rPr b="0">
                <a:solidFill>
                  <a:srgbClr val="1E293B"/>
                </a:solidFill>
              </a:rPr>
              <a:t>Cases cover the full spectrum of biological and clerical possibilities:</a:t>
            </a:r>
          </a:p>
          <a:p>
            <a:pPr lvl="1">
              <a:spcAft>
                <a:spcPts val="6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– Category A: Congruent Controls (N=10): </a:t>
            </a:r>
            <a:r>
              <a:rPr b="0">
                <a:solidFill>
                  <a:srgbClr val="1E293B"/>
                </a:solidFill>
              </a:rPr>
              <a:t>Experimentally confirmed active human kinases.</a:t>
            </a:r>
          </a:p>
          <a:p>
            <a:pPr lvl="1">
              <a:spcAft>
                <a:spcPts val="6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– Category B: Natural Exceptions (N=2): </a:t>
            </a:r>
            <a:r>
              <a:rPr b="0">
                <a:solidFill>
                  <a:srgbClr val="1E293B"/>
                </a:solidFill>
              </a:rPr>
              <a:t>Natural pseudokinases (VRK3, ILK) evaluated in diagnostic mode.</a:t>
            </a:r>
          </a:p>
          <a:p>
            <a:pPr lvl="1">
              <a:spcAft>
                <a:spcPts val="6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– Category C: Controlled Inconsistencies (N=32): </a:t>
            </a:r>
            <a:r>
              <a:rPr b="0">
                <a:solidFill>
                  <a:srgbClr val="1E293B"/>
                </a:solidFill>
              </a:rPr>
              <a:t>Controlled synthetic label swaps and catalytic motif knockouts.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Standardized Matrix Orientation: </a:t>
            </a:r>
            <a:r>
              <a:rPr b="0">
                <a:solidFill>
                  <a:srgbClr val="1E293B"/>
                </a:solidFill>
              </a:rPr>
              <a:t>Positives = Inconsistent / Perturbed instances; Negatives = Congruent Controls.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2120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874520"/>
            <a:ext cx="4809744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Controlled Perturbation Types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1. Synthetic Label Contradictions: </a:t>
            </a:r>
            <a:r>
              <a:rPr b="0">
                <a:solidFill>
                  <a:srgbClr val="1E293B"/>
                </a:solidFill>
              </a:rPr>
              <a:t>Assigned an incompatible functional annotation (e.g. non-kinase catalytic label assigned to a canonical kinase). Tests sequence similarity and language model functional manifold sensitivity.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2. Catalytic Motif Knockouts: </a:t>
            </a:r>
            <a:r>
              <a:rPr b="0">
                <a:solidFill>
                  <a:srgbClr val="1E293B"/>
                </a:solidFill>
              </a:rPr>
              <a:t>Targeted in silico point mutations disrupting the VAIK, HRD, or DFG active-site triad. Tests sensitivity of the catalytic motif scanner and language model embedding representations.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3. Non-Kinase Outgroups: </a:t>
            </a:r>
            <a:r>
              <a:rPr b="0">
                <a:solidFill>
                  <a:srgbClr val="1E293B"/>
                </a:solidFill>
              </a:rPr>
              <a:t>Unrelated globular proteins (e.g. globins, lysozymes) mislabeled as protein kinases. Tests sequence alignment and global embedding boundaries.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7432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>
              <a:defRPr sz="950" b="1">
                <a:solidFill>
                  <a:srgbClr val="1D4ED8"/>
                </a:solidFill>
                <a:latin typeface="Calibri"/>
              </a:defRPr>
            </a:pPr>
            <a:r>
              <a:t>EMPIRICAL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Independent Test Set Results Across Detection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Rigorous evaluation on the independent test partition (N=21) with frozen thresholds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106984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The Annotation Contradiction Atlas • Human Kinome Biocuration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Calibri"/>
              </a:defRPr>
            </a:pPr>
            <a:r>
              <a:t>Slide 12 of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42062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74520"/>
            <a:ext cx="3803904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Comparative Method Findings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Sequence Similarity Baseline: </a:t>
            </a:r>
            <a:r>
              <a:rPr b="0">
                <a:solidFill>
                  <a:srgbClr val="1E293B"/>
                </a:solidFill>
              </a:rPr>
              <a:t>Precision: 0.7500 | Recall: 0.5000 | F1-Score: 0.6000 | Specificity: 0.7778 | Accuracy: 0.6190. Achieved the highest overall F1-score across all methods.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ESM-2 Embedding Anomaly: </a:t>
            </a:r>
            <a:r>
              <a:rPr b="0">
                <a:solidFill>
                  <a:srgbClr val="1E293B"/>
                </a:solidFill>
              </a:rPr>
              <a:t>Precision: 0.6667 | Recall: 0.1667 | F1-Score: 0.2667 | Specificity: 0.8889 | Accuracy: 0.4762. Strong specificity, but misses subtle active-site knockouts.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Kinase Biological Features (Motifs): </a:t>
            </a:r>
            <a:r>
              <a:rPr b="0">
                <a:solidFill>
                  <a:srgbClr val="1E293B"/>
                </a:solidFill>
              </a:rPr>
              <a:t>Precision: 1.0000 | Recall: 0.0833 | F1-Score: 0.1538 | Specificity: 1.0000 | Accuracy: 0.4762. Perfect precision (zero false positives), acting as an absolute sieve.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Evidence-Aware Ensemble: </a:t>
            </a:r>
            <a:r>
              <a:rPr b="0">
                <a:solidFill>
                  <a:srgbClr val="1E293B"/>
                </a:solidFill>
              </a:rPr>
              <a:t>Precision: 0.6667 | Recall: 0.1667 | F1-Score: 0.2667 | Specificity: 0.8889 | Accuracy: 0.4762.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691640"/>
            <a:ext cx="63093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WhatsApp Image 2026-10-28 at 21.24.5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3792" y="2408130"/>
            <a:ext cx="6163056" cy="288298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120640" y="5952744"/>
            <a:ext cx="6309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i="1">
                <a:solidFill>
                  <a:srgbClr val="64748B"/>
                </a:solidFill>
                <a:latin typeface="Calibri"/>
              </a:defRPr>
            </a:pPr>
            <a:r>
              <a:t>Figure 9: Scientific Benchmark Console showing independent test set metrics across all four detection methods.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7432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>
              <a:defRPr sz="950" b="1">
                <a:solidFill>
                  <a:srgbClr val="1D4ED8"/>
                </a:solidFill>
                <a:latin typeface="Calibri"/>
              </a:defRPr>
            </a:pPr>
            <a:r>
              <a:t>ERROR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Metric Visualizations &amp; Confusion Matrix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Visualizing precision-recall trade-offs and scikit-learn standard confusion matrices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106984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The Annotation Contradiction Atlas • Human Kinome Biocuration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Calibri"/>
              </a:defRPr>
            </a:pPr>
            <a:r>
              <a:t>Slide 13 of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42062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74520"/>
            <a:ext cx="3803904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Confusion Matrix Insights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Trade-Off Visualization: </a:t>
            </a:r>
            <a:r>
              <a:rPr b="0">
                <a:solidFill>
                  <a:srgbClr val="1E293B"/>
                </a:solidFill>
              </a:rPr>
              <a:t>Grouped bar charts illustrate the complementary strengths of motif checking (100% precision) versus sequence alignment (balanced 50% recall).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Confusion Matrix (Sequence Similarity): </a:t>
            </a:r>
            <a:r>
              <a:rPr b="0">
                <a:solidFill>
                  <a:srgbClr val="1E293B"/>
                </a:solidFill>
              </a:rPr>
              <a:t>Evaluated on N=21 frozen test cases:</a:t>
            </a:r>
          </a:p>
          <a:p>
            <a:pPr lvl="1">
              <a:spcAft>
                <a:spcPts val="6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– True Negatives (TN = 7): </a:t>
            </a:r>
            <a:r>
              <a:rPr b="0">
                <a:solidFill>
                  <a:srgbClr val="1E293B"/>
                </a:solidFill>
              </a:rPr>
              <a:t>Correctly passed congruent control kinases.</a:t>
            </a:r>
          </a:p>
          <a:p>
            <a:pPr lvl="1">
              <a:spcAft>
                <a:spcPts val="6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– True Positives (TP = 6): </a:t>
            </a:r>
            <a:r>
              <a:rPr b="0">
                <a:solidFill>
                  <a:srgbClr val="1E293B"/>
                </a:solidFill>
              </a:rPr>
              <a:t>Correctly flagged functional label contradictions.</a:t>
            </a:r>
          </a:p>
          <a:p>
            <a:pPr lvl="1">
              <a:spcAft>
                <a:spcPts val="6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– False Negatives (FN = 6): </a:t>
            </a:r>
            <a:r>
              <a:rPr b="0">
                <a:solidFill>
                  <a:srgbClr val="1E293B"/>
                </a:solidFill>
              </a:rPr>
              <a:t>Perturbations retaining high background sequence identity.</a:t>
            </a:r>
          </a:p>
          <a:p>
            <a:pPr lvl="1">
              <a:spcAft>
                <a:spcPts val="6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– False Positives (FP = 2): </a:t>
            </a:r>
            <a:r>
              <a:rPr b="0">
                <a:solidFill>
                  <a:srgbClr val="1E293B"/>
                </a:solidFill>
              </a:rPr>
              <a:t>Divergent natural kinases flagged due to low baseline identity.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Curator Takeaway: </a:t>
            </a:r>
            <a:r>
              <a:rPr b="0">
                <a:solidFill>
                  <a:srgbClr val="1E293B"/>
                </a:solidFill>
              </a:rPr>
              <a:t>Multi-evidence integration prevents biocurators from relying on any single fragile algorithm.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691640"/>
            <a:ext cx="63093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WhatsApp Image 2026-10-28 at 21.24.9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3792" y="2031318"/>
            <a:ext cx="6163056" cy="363661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120640" y="5952744"/>
            <a:ext cx="6309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i="1">
                <a:solidFill>
                  <a:srgbClr val="64748B"/>
                </a:solidFill>
                <a:latin typeface="Calibri"/>
              </a:defRPr>
            </a:pPr>
            <a:r>
              <a:t>Figure 10: Method performance comparison chart and scikit-learn formatted confusion matrix for sequence similarity baseline.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7432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>
              <a:defRPr sz="950" b="1">
                <a:solidFill>
                  <a:srgbClr val="1D4ED8"/>
                </a:solidFill>
                <a:latin typeface="Calibri"/>
              </a:defRPr>
            </a:pPr>
            <a:r>
              <a:t>MACHINE LEARNING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Why Dense Embeddings Dilute Local Active-Site Mutations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Scientific diagnostics on ESM-2 language model representations and sensitivity sweeps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106984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The Annotation Contradiction Atlas • Human Kinome Biocuration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Calibri"/>
              </a:defRPr>
            </a:pPr>
            <a:r>
              <a:t>Slide 14 of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42976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74520"/>
            <a:ext cx="3895344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The ESM-2 Dilution Effect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The Investigation: </a:t>
            </a:r>
            <a:r>
              <a:rPr b="0">
                <a:solidFill>
                  <a:srgbClr val="1E293B"/>
                </a:solidFill>
              </a:rPr>
              <a:t>Why did the ESM-2 transformer achieve only 0.1667 recall on sequence perturbations?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The Mathematical Cause: </a:t>
            </a:r>
            <a:r>
              <a:rPr b="0">
                <a:solidFill>
                  <a:srgbClr val="1E293B"/>
                </a:solidFill>
              </a:rPr>
              <a:t>Kinase sequences average 400 to 1,200 residues. Global mean-pooling averages 320-d token vectors across the entire sequence length.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Negligible Shift in Vector Space: </a:t>
            </a:r>
            <a:r>
              <a:rPr b="0">
                <a:solidFill>
                  <a:srgbClr val="1E293B"/>
                </a:solidFill>
              </a:rPr>
              <a:t>A localized active-site mutation (3-4 amino acids) constitutes less than 0.5% of the sequence, causing minimal change in global embedding distance.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Threshold Sensitivity Sweep: </a:t>
            </a:r>
            <a:r>
              <a:rPr b="0">
                <a:solidFill>
                  <a:srgbClr val="1E293B"/>
                </a:solidFill>
              </a:rPr>
              <a:t>Calibrated cutoff: tau = 0.1814. At tau &gt;= 0.40, the fraction of flagged cases collapses to zero.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Architectural Takeaway: </a:t>
            </a:r>
            <a:r>
              <a:rPr b="0">
                <a:solidFill>
                  <a:srgbClr val="1E293B"/>
                </a:solidFill>
              </a:rPr>
              <a:t>Local catalytic verification requires active-site windowed attention, not global sequence mean pooling.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80" y="1691640"/>
            <a:ext cx="62179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WhatsApp Image 2026-10-28 at 21.25.0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2" y="2781071"/>
            <a:ext cx="6071616" cy="213710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212080" y="5952744"/>
            <a:ext cx="6217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i="1">
                <a:solidFill>
                  <a:srgbClr val="64748B"/>
                </a:solidFill>
                <a:latin typeface="Calibri"/>
              </a:defRPr>
            </a:pPr>
            <a:r>
              <a:t>Figure 11: ESM-2 diagnostics table across benchmark categories and threshold sensitivity sweep curve.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7432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>
              <a:defRPr sz="950" b="1">
                <a:solidFill>
                  <a:srgbClr val="1D4ED8"/>
                </a:solidFill>
                <a:latin typeface="Calibri"/>
              </a:defRPr>
            </a:pPr>
            <a:r>
              <a:t>DISCUSSION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Scientific Limitations &amp; Future Directions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Operational boundaries and high-impact engineering extensions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106984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The Annotation Contradiction Atlas • Human Kinome Biocuration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Calibri"/>
              </a:defRPr>
            </a:pPr>
            <a:r>
              <a:t>Slide 15 of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74520"/>
            <a:ext cx="4809744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Current System Boundaries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Decision Support, Not Automated Oracle: </a:t>
            </a:r>
            <a:r>
              <a:rPr b="0">
                <a:solidFill>
                  <a:srgbClr val="1E293B"/>
                </a:solidFill>
              </a:rPr>
              <a:t>In silico contradiction flags highlight review priorities; they do not prove an annotation is wrong. Physical biochemical assays remain required to definitively verify phosphotransfer.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Global Embedding Dilution: </a:t>
            </a:r>
            <a:r>
              <a:rPr b="0">
                <a:solidFill>
                  <a:srgbClr val="1E293B"/>
                </a:solidFill>
              </a:rPr>
              <a:t>Mean-pooled ESM-2 embeddings dilute localized point mutations across long sequence backbones.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Dataset Boundary: </a:t>
            </a:r>
            <a:r>
              <a:rPr b="0">
                <a:solidFill>
                  <a:srgbClr val="1E293B"/>
                </a:solidFill>
              </a:rPr>
              <a:t>Initial implementation focused exclusively on human protein kinases (500 records).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Synthetic Label Distribution: </a:t>
            </a:r>
            <a:r>
              <a:rPr b="0">
                <a:solidFill>
                  <a:srgbClr val="1E293B"/>
                </a:solidFill>
              </a:rPr>
              <a:t>Inconsistencies modeled through controlled synthetic swaps; real-world database errors may be more subtle.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874520"/>
            <a:ext cx="4809744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Future Research Directions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1. Active-Site Attention Pooling: </a:t>
            </a:r>
            <a:r>
              <a:rPr b="0">
                <a:solidFill>
                  <a:srgbClr val="1E293B"/>
                </a:solidFill>
              </a:rPr>
              <a:t>Extract ESM-2 representations using attention masks centered strictly around the catalytic cleft rather than full-sequence mean pooling.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2. AlphaFold 3D Geometric Analysis: </a:t>
            </a:r>
            <a:r>
              <a:rPr b="0">
                <a:solidFill>
                  <a:srgbClr val="1E293B"/>
                </a:solidFill>
              </a:rPr>
              <a:t>Integrate predicted atomic coordinates to evaluate catalytic cleft volume, pocket electrostatics, and ATP-binding geometry.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3. Kinome-Wide &amp; Multi-Family Expansion: </a:t>
            </a:r>
            <a:r>
              <a:rPr b="0">
                <a:solidFill>
                  <a:srgbClr val="1E293B"/>
                </a:solidFill>
              </a:rPr>
              <a:t>Generalize the framework to human phosphatases, ubiquitin ligases, and G-protein coupled receptors (GPCRs).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4. Biocurator Feedback Loop: </a:t>
            </a:r>
            <a:r>
              <a:rPr b="0">
                <a:solidFill>
                  <a:srgbClr val="1E293B"/>
                </a:solidFill>
              </a:rPr>
              <a:t>Incorporate active learning where curator verdicts update review weights dynamically.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7432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>
              <a:defRPr sz="950" b="1">
                <a:solidFill>
                  <a:srgbClr val="1D4ED8"/>
                </a:solidFill>
                <a:latin typeface="Calibri"/>
              </a:defRPr>
            </a:pPr>
            <a: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Project Summary &amp; Core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Summary of deliverables, scientific lessons, and open-source availability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106984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The Annotation Contradiction Atlas • Human Kinome Biocuration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Calibri"/>
              </a:defRPr>
            </a:pPr>
            <a:r>
              <a:t>Slide 16 of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4864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74520"/>
            <a:ext cx="5084064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Core Scientific Contributions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Transparent Multi-Evidence Triage: </a:t>
            </a:r>
            <a:r>
              <a:rPr b="0">
                <a:solidFill>
                  <a:srgbClr val="1E293B"/>
                </a:solidFill>
              </a:rPr>
              <a:t>Successfully integrated sequence similarity, protein language models (ESM-2), catalytic motif scanners, and ECO provenance into a coherent decision-support framework.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Scientifically Defensible Pseudokinase Handling: </a:t>
            </a:r>
            <a:r>
              <a:rPr b="0">
                <a:solidFill>
                  <a:srgbClr val="1E293B"/>
                </a:solidFill>
              </a:rPr>
              <a:t>Established that natural biological exceptions (VRK3, ILK) must be rigorously separated from suspected annotation errors to prevent triage false-alarm pollution.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Honest Empirical Evaluation: </a:t>
            </a:r>
            <a:r>
              <a:rPr b="0">
                <a:solidFill>
                  <a:srgbClr val="1E293B"/>
                </a:solidFill>
              </a:rPr>
              <a:t>Benchmark v2 demonstrated that simpler sequence alignment baselines (F1 = 0.6000) outperformed global language model embeddings (F1 = 0.2667) due to sequence length dilution.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691640"/>
            <a:ext cx="4937760" cy="4572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93408" y="1874520"/>
            <a:ext cx="4535424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Project Deliverables &amp; Repository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Interactive Web Application: </a:t>
            </a:r>
            <a:r>
              <a:rPr b="0">
                <a:solidFill>
                  <a:srgbClr val="1E293B"/>
                </a:solidFill>
              </a:rPr>
              <a:t>Full Streamlit web platform with SQLite persistence, interactive search, side-by-side reference comparison, and reproducible checkpoints.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Automated Test Suite: </a:t>
            </a:r>
            <a:r>
              <a:rPr b="0">
                <a:solidFill>
                  <a:srgbClr val="1E293B"/>
                </a:solidFill>
              </a:rPr>
              <a:t>50 passing unit and integration tests covering database models, UniProt ingestion, motifs, embeddings, and UI components.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Research Paper &amp; Documentation: </a:t>
            </a:r>
            <a:r>
              <a:rPr b="0">
                <a:solidFill>
                  <a:srgbClr val="1E293B"/>
                </a:solidFill>
              </a:rPr>
              <a:t>Full scientific manuscript and documentation included.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Open-Source Repository: </a:t>
            </a:r>
            <a:r>
              <a:rPr b="0">
                <a:solidFill>
                  <a:srgbClr val="1E293B"/>
                </a:solidFill>
              </a:rPr>
              <a:t>github.com/Krishnakb6/annotation-contradiction-atlas</a:t>
            </a:r>
          </a:p>
          <a:p>
            <a:pPr>
              <a:spcAft>
                <a:spcPts val="6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Questions &amp; Discussion: </a:t>
            </a:r>
            <a:r>
              <a:rPr b="0">
                <a:solidFill>
                  <a:srgbClr val="1E293B"/>
                </a:solidFill>
              </a:rPr>
              <a:t>Thank you! We welcome your questions and feedback.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